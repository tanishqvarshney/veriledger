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4114800"/>
            <a:ext cx="3504895" cy="27432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303520"/>
            <a:ext cx="2133295" cy="155448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Inter"/>
              </a:rPr>
              <a:t>VERILEDGER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07792"/>
            <a:ext cx="1463040" cy="73152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E8E93"/>
                </a:solidFill>
                <a:latin typeface="Inter"/>
              </a:rPr>
              <a:t>Real-Time Document Forgery Detection
&amp; Cryptographic Audit Layer for Bank Underwriting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97680"/>
            <a:ext cx="3840480" cy="384048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0D158"/>
                </a:solidFill>
                <a:latin typeface="Inter"/>
              </a:rPr>
              <a:t>🏆  Agentic Regulatory Intelligence &amp;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0D158"/>
                </a:solidFill>
                <a:latin typeface="Inter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Test Pass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029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0D158"/>
                </a:solidFill>
                <a:latin typeface="Inter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Forensic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029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0D158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Forensic Engines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F"/>
                </a:solidFill>
                <a:latin typeface="Inter"/>
              </a:rPr>
              <a:t>VeriLedger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53A"/>
                </a:solidFill>
                <a:latin typeface="Inter"/>
              </a:rPr>
              <a:t>01  /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Inter"/>
              </a:rPr>
              <a:t>Loan Fraud Costs Banks Billions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E8E93"/>
                </a:solidFill>
                <a:latin typeface="Inter"/>
              </a:rPr>
              <a:t>Manual underwriting review cannot keep pace with increasingly sophisticated document forgery.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5394960" cy="169164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54864" cy="169164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453A"/>
                </a:solidFill>
                <a:latin typeface="Inter"/>
              </a:rPr>
              <a:t>$3.1B+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8E93"/>
                </a:solidFill>
                <a:latin typeface="Inter"/>
              </a:rPr>
              <a:t>lost to mortgage &amp; personal loan fraud annually (US, 2023)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5394960" cy="169164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920240"/>
            <a:ext cx="54864" cy="169164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9F0A"/>
                </a:solidFill>
                <a:latin typeface="Inter"/>
              </a:rPr>
              <a:t>~6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8E93"/>
                </a:solidFill>
                <a:latin typeface="Inter"/>
              </a:rPr>
              <a:t>average manual review time per document — impossible at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5394960" cy="169164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54864" cy="169164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77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9F0A"/>
                </a:solidFill>
                <a:latin typeface="Inter"/>
              </a:rPr>
              <a:t>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8E93"/>
                </a:solidFill>
                <a:latin typeface="Inter"/>
              </a:rPr>
              <a:t>of fraudulent documents pass unaided visual inspection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5394960" cy="169164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840480"/>
            <a:ext cx="54864" cy="169164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77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E8E93"/>
                </a:solidFill>
                <a:latin typeface="Inter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8E93"/>
                </a:solidFill>
                <a:latin typeface="Inter"/>
              </a:rPr>
              <a:t>cryptographic proof that a reviewed doc was actually scanned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F"/>
                </a:solidFill>
                <a:latin typeface="Inter"/>
              </a:rPr>
              <a:t>VeriLedger  •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0D158"/>
                </a:solidFill>
                <a:latin typeface="Inter"/>
              </a:rPr>
              <a:t>02  /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nter"/>
              </a:rPr>
              <a:t>VeriLedger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E8E93"/>
                </a:solidFill>
                <a:latin typeface="Inter"/>
              </a:rPr>
              <a:t>An automated forensic document trust console that ingests any uploaded PDF or image,
runs three independent forensic engines, and returns a Trust Score with full visual &amp; metadata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3657600" cy="25603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3657600" cy="64008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500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ter"/>
              </a:rPr>
              <a:t>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072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Error Level
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E8E93"/>
                </a:solidFill>
                <a:latin typeface="Inter"/>
              </a:rPr>
              <a:t>Detects pixel-grid compression anomalies — precisely locates spliced or altered numbers.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48840"/>
            <a:ext cx="3657600" cy="25603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3657600" cy="64008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500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ter"/>
              </a:rPr>
              <a:t>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072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Copy-Move
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E8E93"/>
                </a:solidFill>
                <a:latin typeface="Inter"/>
              </a:rPr>
              <a:t>ORB keypoint matching exposes cloned stamps, forged signatures, or pasted text blocks.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2148840"/>
            <a:ext cx="3657600" cy="25603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2148840"/>
            <a:ext cx="3657600" cy="64008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3500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ter"/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8072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</a:rPr>
              <a:t>Metadata &amp;
Structure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383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E8E93"/>
                </a:solidFill>
                <a:latin typeface="Inter"/>
              </a:rPr>
              <a:t>Flags suspicious PDF creators (iLovePDF, Photoshop), date-time deltas, and font issues.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937760"/>
            <a:ext cx="5577840" cy="150876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937760"/>
            <a:ext cx="54864" cy="15087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74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🔗  Cryptographic Ledger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486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E8E93"/>
                </a:solidFill>
                <a:latin typeface="Inter"/>
              </a:rPr>
              <a:t>Every document hashed into a SHA-256 chained SQLite ledger — tamper-evident audit trail.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937760"/>
            <a:ext cx="5577840" cy="150876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937760"/>
            <a:ext cx="54864" cy="150876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074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📊  Cross-Doc OCR Reconciliation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86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E8E93"/>
                </a:solidFill>
                <a:latin typeface="Inter"/>
              </a:rPr>
              <a:t>Salary slip vs. bank statement — automatically flags name &amp; deposit mismatches.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F"/>
                </a:solidFill>
                <a:latin typeface="Inter"/>
              </a:rPr>
              <a:t>VeriLedger  •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84FF"/>
                </a:solidFill>
                <a:latin typeface="Inter"/>
              </a:rPr>
              <a:t>03  /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Inter"/>
              </a:rPr>
              <a:t>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194560" cy="41148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19456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84F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Document
Ingested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8036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  <a:latin typeface="Inter"/>
              </a:rPr>
              <a:t>PDF or image uploaded via drag-and-drop. SHA-256 hash computed immediately.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2004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A4A4F"/>
                </a:solidFill>
                <a:latin typeface="Inter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7" y="1463040"/>
            <a:ext cx="2194560" cy="41148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24327" y="1463040"/>
            <a:ext cx="2194560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7" y="1645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0D158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7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Forensic
Engines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7" y="288036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  <a:latin typeface="Inter"/>
              </a:rPr>
              <a:t>ELA, Copy-Move, and Metadata audit run in parallel on the rasterized document.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7" y="32004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A4A4F"/>
                </a:solidFill>
                <a:latin typeface="Inter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4336" y="1463040"/>
            <a:ext cx="2194560" cy="41148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4336" y="1463040"/>
            <a:ext cx="2194560" cy="54864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1496" y="1645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F0A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Trust Score
Fused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288036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  <a:latin typeface="Inter"/>
              </a:rPr>
              <a:t>Weighted formula: 35% ELA + 35% Clone + 30% Metadata = Trust Score 0–100.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32004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A4A4F"/>
                </a:solidFill>
                <a:latin typeface="Inter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24344" y="1463040"/>
            <a:ext cx="2194560" cy="41148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4344" y="1463040"/>
            <a:ext cx="2194560" cy="54864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1645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53A"/>
                </a:solidFill>
                <a:latin typeface="Inter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Ledger Block
Committed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88036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  <a:latin typeface="Inter"/>
              </a:rPr>
              <a:t>Block (doc_hash → prev_hash → chain_hash) appended to tamper-evident DB.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32004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A4A4F"/>
                </a:solidFill>
                <a:latin typeface="Inter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4352" y="1463040"/>
            <a:ext cx="2194560" cy="41148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74352" y="1463040"/>
            <a:ext cx="2194560" cy="54864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1512" y="1645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8E93"/>
                </a:solidFill>
                <a:latin typeface="Inter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1512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Dashboard
Updated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1512" y="288036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  <a:latin typeface="Inter"/>
              </a:rPr>
              <a:t>Radial gauge, ELA heatmap, clone map, and ledger timeline rendered live.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F"/>
                </a:solidFill>
                <a:latin typeface="Inter"/>
              </a:rPr>
              <a:t>VeriLedger  •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0D158"/>
                </a:solidFill>
                <a:latin typeface="Inter"/>
              </a:rPr>
              <a:t>04  /  TRUST SCORE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Inter"/>
              </a:rPr>
              <a:t>How Trust Is Calculated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55680" cy="109728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0D158"/>
                </a:solidFill>
                <a:latin typeface="Inter"/>
              </a:rPr>
              <a:t>Trust Score  =  100  –  (ELA Risk × 0.35)  –  (Clone Risk × 0.35)  –  (Metadata Penalty × 0.30)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97480"/>
            <a:ext cx="3657600" cy="265176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697480"/>
            <a:ext cx="3657600" cy="64008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0D158"/>
                </a:solidFill>
                <a:latin typeface="Inter"/>
              </a:rPr>
              <a:t>95–100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TRUSTED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  <a:latin typeface="Inter"/>
              </a:rPr>
              <a:t>Clean salary slip — no ELA spikes, zero clone matches, no suspicious metadata.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697480"/>
            <a:ext cx="3657600" cy="265176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697480"/>
            <a:ext cx="3657600" cy="64008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880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9F0A"/>
                </a:solidFill>
                <a:latin typeface="Inter"/>
              </a:rPr>
              <a:t>50–75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862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  <a:latin typeface="Inter"/>
              </a:rPr>
              <a:t>Mixed signals — minor ELA variance or a single unembedded font. Requires manual check.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2697480"/>
            <a:ext cx="3657600" cy="265176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2697480"/>
            <a:ext cx="3657600" cy="64008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880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453A"/>
                </a:solidFill>
                <a:latin typeface="Inter"/>
              </a:rPr>
              <a:t>0–35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REJECTED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8862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  <a:latin typeface="Inter"/>
              </a:rPr>
              <a:t>Tampered document — Photoshop creator string, cloned stamp blocks, bright ELA hotspot at Net Pay.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5778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8E93"/>
                </a:solidFill>
                <a:latin typeface="Inter"/>
              </a:rPr>
              <a:t>Signal Weights: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5623560"/>
            <a:ext cx="2743200" cy="2743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5623560"/>
            <a:ext cx="960120" cy="27432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5943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84FF"/>
                </a:solidFill>
                <a:latin typeface="Inter"/>
              </a:rPr>
              <a:t>ELA  35%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5623560"/>
            <a:ext cx="2743200" cy="2743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720" y="5623560"/>
            <a:ext cx="960120" cy="2743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5943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D158"/>
                </a:solidFill>
                <a:latin typeface="Inter"/>
              </a:rPr>
              <a:t>Copy-Move  35%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5623560"/>
            <a:ext cx="2743200" cy="2743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69680" y="5623560"/>
            <a:ext cx="822960" cy="2743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5943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F0A"/>
                </a:solidFill>
                <a:latin typeface="Inter"/>
              </a:rPr>
              <a:t>Metadata  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F"/>
                </a:solidFill>
                <a:latin typeface="Inter"/>
              </a:rPr>
              <a:t>VeriLedger  •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84FF"/>
                </a:solidFill>
                <a:latin typeface="Inter"/>
              </a:rPr>
              <a:t>05  /  CRYPTOGRAPHIC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Inter"/>
              </a:rPr>
              <a:t>Tamper-Evident Audit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8E93"/>
                </a:solidFill>
                <a:latin typeface="Inter"/>
              </a:rPr>
              <a:t>Every document processed by VeriLedger is permanently registered in a cryptographic SQLite block chain.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65960"/>
            <a:ext cx="2743200" cy="2286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965960"/>
            <a:ext cx="2743200" cy="64008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30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84FF"/>
                </a:solidFill>
                <a:latin typeface="Inter"/>
              </a:rPr>
              <a:t>Block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Genesis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F"/>
                </a:solidFill>
                <a:latin typeface="Inter"/>
              </a:rPr>
              <a:t>prev: 0000…0000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3"/>
                </a:solidFill>
                <a:latin typeface="Inter"/>
              </a:rPr>
              <a:t>chain_hash: SHA-256
(doc_hash + prev_hash)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8803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84FF"/>
                </a:solidFill>
                <a:latin typeface="Inter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965960"/>
            <a:ext cx="2743200" cy="2286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965960"/>
            <a:ext cx="2743200" cy="64008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130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84FF"/>
                </a:solidFill>
                <a:latin typeface="Inter"/>
              </a:rPr>
              <a:t>Block 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clean_salary.pdf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F"/>
                </a:solidFill>
                <a:latin typeface="Inter"/>
              </a:rPr>
              <a:t>prev: a3f9…c82e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3375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3"/>
                </a:solidFill>
                <a:latin typeface="Inter"/>
              </a:rPr>
              <a:t>chain_hash: SHA-256
(doc_hash + prev_hash)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8803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84FF"/>
                </a:solidFill>
                <a:latin typeface="Inte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965960"/>
            <a:ext cx="2743200" cy="2286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965960"/>
            <a:ext cx="2743200" cy="64008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130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84FF"/>
                </a:solidFill>
                <a:latin typeface="Inter"/>
              </a:rPr>
              <a:t>Block #3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tampered_doc.pdf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F"/>
                </a:solidFill>
                <a:latin typeface="Inter"/>
              </a:rPr>
              <a:t>prev: 7b21…d94a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375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3"/>
                </a:solidFill>
                <a:latin typeface="Inter"/>
              </a:rPr>
              <a:t>chain_hash: SHA-256
(doc_hash + prev_hash)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8803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A84FF"/>
                </a:solidFill>
                <a:latin typeface="Inter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965960"/>
            <a:ext cx="2743200" cy="2286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26880" y="1965960"/>
            <a:ext cx="2743200" cy="64008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2130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84FF"/>
                </a:solidFill>
                <a:latin typeface="Inter"/>
              </a:rPr>
              <a:t>Block #N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…next 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2926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A4F"/>
                </a:solidFill>
                <a:latin typeface="Inter"/>
              </a:rPr>
              <a:t>prev: e19c…f03b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3375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3"/>
                </a:solidFill>
                <a:latin typeface="Inter"/>
              </a:rPr>
              <a:t>chain_hash: SHA-256
(doc_hash + prev_hash)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572000"/>
            <a:ext cx="11155680" cy="50292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45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🔐  Immutable 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6451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  <a:latin typeface="Inter"/>
              </a:rPr>
              <a:t>Any mutation to a past block breaks the chain_hash for ALL subsequent blocks.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166360"/>
            <a:ext cx="11155680" cy="50292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239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🕵️  Audit Endpoint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23951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  <a:latin typeface="Inter"/>
              </a:rPr>
              <a:t>GET /ledger/verify traverses every block and flags the exact mutated block ID.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760720"/>
            <a:ext cx="11155680" cy="50292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833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📌  Zero Trust 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83387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93"/>
                </a:solidFill>
                <a:latin typeface="Inter"/>
              </a:rPr>
              <a:t>Even if the DBA edits the DB directly, VeriLedger detects and reports the breach.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F"/>
                </a:solidFill>
                <a:latin typeface="Inter"/>
              </a:rPr>
              <a:t>VeriLedger  •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F0A"/>
                </a:solidFill>
                <a:latin typeface="Inter"/>
              </a:rPr>
              <a:t>06  /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Inter"/>
              </a:rPr>
              <a:t>Built on Production-Grade Tooling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5577840" cy="2286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577840" cy="64008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84FF"/>
                </a:solidFill>
                <a:latin typeface="Inter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FastAPI + Uvicorn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0312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High-performance async REST API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3347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Python 3.13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3347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Core runtime with type-annotated handlers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6382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6382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Embedded cryptographic ledger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508760"/>
            <a:ext cx="5577840" cy="2286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508760"/>
            <a:ext cx="5577840" cy="64008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D158"/>
                </a:solidFill>
                <a:latin typeface="Inter"/>
              </a:rPr>
              <a:t>Forensics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0312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OpenCV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10312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ORB keypoints &amp; brute-force KNN matching for copy-move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3347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Pillow (PIL)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63347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JPEG re-compression for Error Level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6382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PyMuPDF (fitz)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16382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PDF rasterization and metadata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694175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Tesseract 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694175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Text extraction for cross-document reconciliation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77639"/>
            <a:ext cx="5577840" cy="2286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977639"/>
            <a:ext cx="5577840" cy="64008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147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0A"/>
                </a:solidFill>
                <a:latin typeface="Inter"/>
              </a:rPr>
              <a:t>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71999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React + Vite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571999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Component-based SPA with HMR dev 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102351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Tailwind CSS v4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102351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Utility-first dark-mode design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32703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Lucide Icons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632703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Consistent minimal icon 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977639"/>
            <a:ext cx="5577840" cy="2286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977639"/>
            <a:ext cx="5577840" cy="64008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1147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3A"/>
                </a:solidFill>
                <a:latin typeface="Inter"/>
              </a:rPr>
              <a:t>DevOps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571999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Docker + Compose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571999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Single-command containerized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102351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pytest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102351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11-test forensic discrimination suite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632703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• GitHub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632703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Version-controlled source: tanishqvarshney/VeriLedger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F"/>
                </a:solidFill>
                <a:latin typeface="Inter"/>
              </a:rPr>
              <a:t>VeriLedger  •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0D158"/>
                </a:solidFill>
                <a:latin typeface="Inter"/>
              </a:rPr>
              <a:t>07  / 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Inter"/>
              </a:rPr>
              <a:t>See It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55680" cy="86868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864" cy="86868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84FF"/>
                </a:solidFill>
                <a:latin typeface="Inter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63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Upload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1051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8E93"/>
                </a:solidFill>
                <a:latin typeface="Inter"/>
              </a:rPr>
              <a:t>Drag clean_salary_slip.pdf onto the upload zone. The scanner animation starts immediately.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572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84FF"/>
                </a:solidFill>
                <a:latin typeface="Inter"/>
              </a:rPr>
              <a:t>Trust Score → 97.4  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7440"/>
            <a:ext cx="11155680" cy="86868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77440"/>
            <a:ext cx="54864" cy="86868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0D158"/>
                </a:solidFill>
                <a:latin typeface="Inter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Review ELA Heatmap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1635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8E93"/>
                </a:solidFill>
                <a:latin typeface="Inter"/>
              </a:rPr>
              <a:t>Switch to ELA Split view. Drag the slider — the dark uniform heatmap confirms no splicing.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578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0D158"/>
                </a:solidFill>
                <a:latin typeface="Inter"/>
              </a:rPr>
              <a:t>ELA Risk → 2.1  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83280"/>
            <a:ext cx="11155680" cy="86868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83280"/>
            <a:ext cx="54864" cy="86868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4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53A"/>
                </a:solidFill>
                <a:latin typeface="Inter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Upload Tampered Doc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82219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8E93"/>
                </a:solidFill>
                <a:latin typeface="Inter"/>
              </a:rPr>
              <a:t>Drop tampered_salary_slip.pdf. Trust Score drops to 18.6 with a red glow. ELA shows bright hotspot on Net Pay.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584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453A"/>
                </a:solidFill>
                <a:latin typeface="Inter"/>
              </a:rPr>
              <a:t>Trust Score → 18.6  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89120"/>
            <a:ext cx="11155680" cy="86868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89120"/>
            <a:ext cx="54864" cy="86868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80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F0A"/>
                </a:solidFill>
                <a:latin typeface="Inter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Cross-Doc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8280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8E93"/>
                </a:solidFill>
                <a:latin typeface="Inter"/>
              </a:rPr>
              <a:t>Switch to Cross-Document tab. Upload both files — system flags Missing Salary Deposit: $5,400 not found.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590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9F0A"/>
                </a:solidFill>
                <a:latin typeface="Inter"/>
              </a:rPr>
              <a:t>Match Score → 55.0  ⚠️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394960"/>
            <a:ext cx="11155680" cy="86868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394960"/>
            <a:ext cx="54864" cy="86868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486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84FF"/>
                </a:solidFill>
                <a:latin typeface="Inter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486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Ledger Integrity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83387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E8E93"/>
                </a:solidFill>
                <a:latin typeface="Inter"/>
              </a:rPr>
              <a:t>Click Audit Chain Integrity — green banner confirms all blocks intact. Mutate DB → red breach warning appears.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5596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84FF"/>
                </a:solidFill>
                <a:latin typeface="Inter"/>
              </a:rPr>
              <a:t>Chain: Intact  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F"/>
                </a:solidFill>
                <a:latin typeface="Inter"/>
              </a:rPr>
              <a:t>VeriLedger  •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0D158"/>
                </a:solidFill>
                <a:latin typeface="Inter"/>
              </a:rPr>
              <a:t>08  /  TEST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0D158"/>
                </a:solidFill>
                <a:latin typeface="Inter"/>
              </a:rPr>
              <a:t>11 / 11 Tests Passing 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8E93"/>
                </a:solidFill>
                <a:latin typeface="Inter"/>
              </a:rPr>
              <a:t>Every test verifies forensic discrimination — not just HTTP 200. Tests assert tampered ≠ clean.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577840" cy="9601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4864" cy="96012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✓  ELA Discrimination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Tampered ELA score &gt; Clean ELA score. Hotspot spatially near the edited amount — not uniform.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828800"/>
            <a:ext cx="5577840" cy="9601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4864" cy="9601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✓  Copy-Move Discrimination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Clone-stamp doc triggers detection. Clean text-heavy doc scores exactly 0.0 clone risk.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26080"/>
            <a:ext cx="5577840" cy="9601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26080"/>
            <a:ext cx="54864" cy="9601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✓  Metadata Flagging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iLovePDF / Photoshop creator strings flagged. ModDate &gt; 180s delta flagged. Clean doc = 0 flags.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926080"/>
            <a:ext cx="5577840" cy="9601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926080"/>
            <a:ext cx="54864" cy="96012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17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✓  Trust Score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83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Mathematical weight validation: 0.35 ELA + 0.35 Clone + 0.30 Metadata. Deterministic &amp; monotonic.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23360"/>
            <a:ext cx="5577840" cy="9601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23360"/>
            <a:ext cx="54864" cy="96012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✓  Ledger Integrity Breach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3-doc chain built → row hash mutated in DB → /ledger/verify detects and reports mutated block ID.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023360"/>
            <a:ext cx="5577840" cy="9601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023360"/>
            <a:ext cx="54864" cy="9601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14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✓  Cross-Doc OCR Reconcile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80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Name mismatch and Missing Salary Deposit ($5,400) flagged when comparing mismatched pair.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120640"/>
            <a:ext cx="11155680" cy="96012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120640"/>
            <a:ext cx="54864" cy="9601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1208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✓  Error Handling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778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93"/>
                </a:solidFill>
                <a:latin typeface="Inter"/>
              </a:rPr>
              <a:t>Unsupported types, empty files, oversized (&gt;10MB), corrupted PDFs, encrypted files → HTTP 400.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F"/>
                </a:solidFill>
                <a:latin typeface="Inter"/>
              </a:rPr>
              <a:t>VeriLedger  •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84FF"/>
                </a:solidFill>
                <a:latin typeface="Inter"/>
              </a:rPr>
              <a:t>09  /  IMPACT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Inter"/>
              </a:rPr>
              <a:t>From Prototype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0D158"/>
                </a:solidFill>
                <a:latin typeface="Inter"/>
              </a:rPr>
              <a:t>Immediate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394960" cy="621792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Inter"/>
              </a:rPr>
              <a:t>⚡️  Reduces per-document review time from ~6 min to &lt; 10 seconds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24327"/>
            <a:ext cx="5394960" cy="621792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700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Inter"/>
              </a:rPr>
              <a:t>🛡️  Provides cryptographic proof that every document was forensically scanned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374135"/>
            <a:ext cx="5394960" cy="621792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1985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Inter"/>
              </a:rPr>
              <a:t>📉  Detects tampering invisible to the naked eye via ELA heatmaps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123944"/>
            <a:ext cx="5394960" cy="621792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696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Inter"/>
              </a:rPr>
              <a:t>⚖️  Creates a compliance audit trail meeting AML/KYC audit requirements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73752"/>
            <a:ext cx="5394960" cy="621792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9194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7"/>
                </a:solidFill>
                <a:latin typeface="Inter"/>
              </a:rPr>
              <a:t>🔗  Immutable ledger blocks any retroactive alteration of the audit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84FF"/>
                </a:solidFill>
                <a:latin typeface="Inter"/>
              </a:rPr>
              <a:t>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74519"/>
            <a:ext cx="5394960" cy="62179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874519"/>
            <a:ext cx="54864" cy="62179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93852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84FF"/>
                </a:solidFill>
                <a:latin typeface="Inter"/>
              </a:rP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938527"/>
            <a:ext cx="4251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5F7"/>
                </a:solidFill>
                <a:latin typeface="Inter"/>
              </a:rPr>
              <a:t>LLM-powered narrative fraud detector (semantic inconsistencies in salary descriptions)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624327"/>
            <a:ext cx="5394960" cy="62179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624327"/>
            <a:ext cx="54864" cy="62179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68833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84FF"/>
                </a:solidFill>
                <a:latin typeface="Inter"/>
              </a:rPr>
              <a:t>Q3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88335"/>
            <a:ext cx="4251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5F7"/>
                </a:solidFill>
                <a:latin typeface="Inter"/>
              </a:rPr>
              <a:t>Real-time webhook integration with core banking APIs (Temenos, Finastra)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374135"/>
            <a:ext cx="5394960" cy="62179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374135"/>
            <a:ext cx="54864" cy="62179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43814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F0A"/>
                </a:solidFill>
                <a:latin typeface="Inter"/>
              </a:rPr>
              <a:t>Q4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438143"/>
            <a:ext cx="4251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5F7"/>
                </a:solidFill>
                <a:latin typeface="Inter"/>
              </a:rPr>
              <a:t>Multi-jurisdiction compliance rule sets (RBI, FCA, OCC) embedded in audit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123944"/>
            <a:ext cx="5394960" cy="62179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123944"/>
            <a:ext cx="54864" cy="62179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187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F0A"/>
                </a:solidFill>
                <a:latin typeface="Inter"/>
              </a:rPr>
              <a:t>Q4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187952"/>
            <a:ext cx="4251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5F7"/>
                </a:solidFill>
                <a:latin typeface="Inter"/>
              </a:rPr>
              <a:t>Batch pipeline: scan 10,000 documents overnight, export CSV trust score report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873752"/>
            <a:ext cx="5394960" cy="621792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873752"/>
            <a:ext cx="54864" cy="621792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937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0D158"/>
                </a:solidFill>
                <a:latin typeface="Inter"/>
              </a:rPr>
              <a:t>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937760"/>
            <a:ext cx="4251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5F7"/>
                </a:solidFill>
                <a:latin typeface="Inter"/>
              </a:rPr>
              <a:t>Blockchain ledger migration (Hyperledger Fabric) for multi-bank consortium audits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F"/>
                </a:solidFill>
                <a:latin typeface="Inter"/>
              </a:rPr>
              <a:t>VeriLedger  •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2286000"/>
            <a:ext cx="2590495" cy="457200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nter"/>
              </a:rPr>
              <a:t>Trust Every Document.
Protect Every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66160"/>
            <a:ext cx="1645920" cy="64008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749039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E8E93"/>
                </a:solidFill>
                <a:latin typeface="Inter"/>
              </a:rPr>
              <a:t>VeriLedger brings institutional-grade forensic document analysis
to every underwriting workflow — fast, precise, and audit-ready.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754880"/>
            <a:ext cx="3383280" cy="59436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280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84FF"/>
                </a:solidFill>
                <a:latin typeface="Inter"/>
              </a:rPr>
              <a:t>GitHub:  github.com/tanishqvarshney/VeriLedger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4754880"/>
            <a:ext cx="3383280" cy="594360"/>
          </a:xfrm>
          <a:prstGeom prst="rect">
            <a:avLst/>
          </a:prstGeom>
          <a:solidFill>
            <a:srgbClr val="1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48280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D158"/>
                </a:solidFill>
                <a:latin typeface="Inter"/>
              </a:rPr>
              <a:t>Live Demo:  localhost:3000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743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A4A4F"/>
                </a:solidFill>
                <a:latin typeface="Inter"/>
              </a:rPr>
              <a:t>VERILEDGER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4A4F"/>
                </a:solidFill>
                <a:latin typeface="Inter"/>
              </a:rPr>
              <a:t>VeriLedger  •  Agentic Regulatory Intelligence &amp; Compliance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